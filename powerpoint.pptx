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Dingos Stamp" charset="1" panose="03000A02040400000004"/>
      <p:regular r:id="rId23"/>
    </p:embeddedFont>
    <p:embeddedFont>
      <p:font typeface="Canva Sans Bold" charset="1" panose="020B0803030501040103"/>
      <p:regular r:id="rId24"/>
    </p:embeddedFont>
    <p:embeddedFont>
      <p:font typeface="Be Vietnam" charset="1" panose="00000500000000000000"/>
      <p:regular r:id="rId25"/>
    </p:embeddedFont>
    <p:embeddedFont>
      <p:font typeface="Be Vietnam Ultra-Bold" charset="1" panose="000009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B4D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82656"/>
            <a:ext cx="19112583" cy="7775644"/>
            <a:chOff x="0" y="0"/>
            <a:chExt cx="12225965" cy="4973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5965" cy="4973936"/>
            </a:xfrm>
            <a:custGeom>
              <a:avLst/>
              <a:gdLst/>
              <a:ahLst/>
              <a:cxnLst/>
              <a:rect r="r" b="b" t="t" l="l"/>
              <a:pathLst>
                <a:path h="4973936" w="12225965">
                  <a:moveTo>
                    <a:pt x="0" y="0"/>
                  </a:moveTo>
                  <a:lnTo>
                    <a:pt x="12225965" y="0"/>
                  </a:lnTo>
                  <a:lnTo>
                    <a:pt x="12225965" y="4973936"/>
                  </a:lnTo>
                  <a:lnTo>
                    <a:pt x="0" y="4973936"/>
                  </a:lnTo>
                  <a:close/>
                </a:path>
              </a:pathLst>
            </a:custGeom>
            <a:solidFill>
              <a:srgbClr val="2646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225965" cy="4983461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3285" y="3837106"/>
            <a:ext cx="17221430" cy="206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4"/>
              </a:lnSpc>
            </a:pPr>
            <a:r>
              <a:rPr lang="en-US" sz="72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Ca</a:t>
            </a:r>
            <a:r>
              <a:rPr lang="en-US" sz="72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ncer Type Prediction Using Gene Expression Data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737097" y="7225099"/>
            <a:ext cx="3163328" cy="2971320"/>
          </a:xfrm>
          <a:custGeom>
            <a:avLst/>
            <a:gdLst/>
            <a:ahLst/>
            <a:cxnLst/>
            <a:rect r="r" b="b" t="t" l="l"/>
            <a:pathLst>
              <a:path h="2971320" w="3163328">
                <a:moveTo>
                  <a:pt x="0" y="0"/>
                </a:moveTo>
                <a:lnTo>
                  <a:pt x="3163328" y="0"/>
                </a:lnTo>
                <a:lnTo>
                  <a:pt x="3163328" y="2971321"/>
                </a:lnTo>
                <a:lnTo>
                  <a:pt x="0" y="2971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3848" y="-834724"/>
            <a:ext cx="3967679" cy="3726848"/>
          </a:xfrm>
          <a:custGeom>
            <a:avLst/>
            <a:gdLst/>
            <a:ahLst/>
            <a:cxnLst/>
            <a:rect r="r" b="b" t="t" l="l"/>
            <a:pathLst>
              <a:path h="3726848" w="3967679">
                <a:moveTo>
                  <a:pt x="0" y="0"/>
                </a:moveTo>
                <a:lnTo>
                  <a:pt x="3967678" y="0"/>
                </a:lnTo>
                <a:lnTo>
                  <a:pt x="3967678" y="3726848"/>
                </a:lnTo>
                <a:lnTo>
                  <a:pt x="0" y="3726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-353600" y="7438663"/>
            <a:ext cx="5386403" cy="181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347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prepared by </a:t>
            </a:r>
          </a:p>
          <a:p>
            <a:pPr algn="ctr">
              <a:lnSpc>
                <a:spcPts val="4860"/>
              </a:lnSpc>
            </a:pPr>
            <a:r>
              <a:rPr lang="en-US" sz="347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Alaa Khaled Shukair </a:t>
            </a:r>
          </a:p>
          <a:p>
            <a:pPr algn="ctr">
              <a:lnSpc>
                <a:spcPts val="4860"/>
              </a:lnSpc>
            </a:pPr>
            <a:r>
              <a:rPr lang="en-US" sz="347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ID:221002049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32804" y="9201150"/>
            <a:ext cx="7656469" cy="157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</a:pPr>
            <a:r>
              <a:rPr lang="en-US" sz="298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CBIO313 – Data Mining and Machine Learning Spring 2026</a:t>
            </a:r>
          </a:p>
          <a:p>
            <a:pPr algn="ctr">
              <a:lnSpc>
                <a:spcPts val="417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40782"/>
            <a:ext cx="16647664" cy="3846301"/>
            <a:chOff x="0" y="0"/>
            <a:chExt cx="7768782" cy="1794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68782" cy="1794911"/>
            </a:xfrm>
            <a:custGeom>
              <a:avLst/>
              <a:gdLst/>
              <a:ahLst/>
              <a:cxnLst/>
              <a:rect r="r" b="b" t="t" l="l"/>
              <a:pathLst>
                <a:path h="1794911" w="7768782">
                  <a:moveTo>
                    <a:pt x="5115" y="0"/>
                  </a:moveTo>
                  <a:lnTo>
                    <a:pt x="7763667" y="0"/>
                  </a:lnTo>
                  <a:cubicBezTo>
                    <a:pt x="7765024" y="0"/>
                    <a:pt x="7766324" y="539"/>
                    <a:pt x="7767284" y="1498"/>
                  </a:cubicBezTo>
                  <a:cubicBezTo>
                    <a:pt x="7768244" y="2458"/>
                    <a:pt x="7768782" y="3759"/>
                    <a:pt x="7768782" y="5115"/>
                  </a:cubicBezTo>
                  <a:lnTo>
                    <a:pt x="7768782" y="1789795"/>
                  </a:lnTo>
                  <a:cubicBezTo>
                    <a:pt x="7768782" y="1792620"/>
                    <a:pt x="7766492" y="1794911"/>
                    <a:pt x="7763667" y="1794911"/>
                  </a:cubicBezTo>
                  <a:lnTo>
                    <a:pt x="5115" y="1794911"/>
                  </a:lnTo>
                  <a:cubicBezTo>
                    <a:pt x="2290" y="1794911"/>
                    <a:pt x="0" y="1792620"/>
                    <a:pt x="0" y="1789795"/>
                  </a:cubicBezTo>
                  <a:lnTo>
                    <a:pt x="0" y="5115"/>
                  </a:lnTo>
                  <a:cubicBezTo>
                    <a:pt x="0" y="3759"/>
                    <a:pt x="539" y="2458"/>
                    <a:pt x="1498" y="1498"/>
                  </a:cubicBezTo>
                  <a:cubicBezTo>
                    <a:pt x="2458" y="539"/>
                    <a:pt x="3759" y="0"/>
                    <a:pt x="511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7768782" cy="1804436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266968">
            <a:off x="-786835" y="582841"/>
            <a:ext cx="5021265" cy="2303060"/>
          </a:xfrm>
          <a:custGeom>
            <a:avLst/>
            <a:gdLst/>
            <a:ahLst/>
            <a:cxnLst/>
            <a:rect r="r" b="b" t="t" l="l"/>
            <a:pathLst>
              <a:path h="2303060" w="5021265">
                <a:moveTo>
                  <a:pt x="0" y="0"/>
                </a:moveTo>
                <a:lnTo>
                  <a:pt x="5021264" y="0"/>
                </a:lnTo>
                <a:lnTo>
                  <a:pt x="5021264" y="2303060"/>
                </a:lnTo>
                <a:lnTo>
                  <a:pt x="0" y="2303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65534"/>
            <a:ext cx="16230600" cy="8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2"/>
              </a:lnSpc>
            </a:pPr>
            <a:r>
              <a:rPr lang="en-US" sz="66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Proj</a:t>
            </a:r>
            <a:r>
              <a:rPr lang="en-US" sz="66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ect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2664" y="2319055"/>
            <a:ext cx="16765336" cy="392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1671" indent="-480835" lvl="1">
              <a:lnSpc>
                <a:spcPts val="6235"/>
              </a:lnSpc>
              <a:buFont typeface="Arial"/>
              <a:buChar char="•"/>
            </a:pPr>
            <a:r>
              <a:rPr lang="en-US" sz="4454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Predict cancer type usin</a:t>
            </a:r>
            <a:r>
              <a:rPr lang="en-US" sz="4454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g gene expression data</a:t>
            </a:r>
          </a:p>
          <a:p>
            <a:pPr algn="l" marL="961671" indent="-480835" lvl="1">
              <a:lnSpc>
                <a:spcPts val="6235"/>
              </a:lnSpc>
              <a:buFont typeface="Arial"/>
              <a:buChar char="•"/>
            </a:pPr>
            <a:r>
              <a:rPr lang="en-US" sz="4454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Apply preprocessing and feature engineering</a:t>
            </a:r>
          </a:p>
          <a:p>
            <a:pPr algn="l" marL="961671" indent="-480835" lvl="1">
              <a:lnSpc>
                <a:spcPts val="6235"/>
              </a:lnSpc>
              <a:buFont typeface="Arial"/>
              <a:buChar char="•"/>
            </a:pPr>
            <a:r>
              <a:rPr lang="en-US" sz="4454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Compare multiple machine learning algorithms</a:t>
            </a:r>
          </a:p>
          <a:p>
            <a:pPr algn="l" marL="961671" indent="-480835" lvl="1">
              <a:lnSpc>
                <a:spcPts val="6235"/>
              </a:lnSpc>
              <a:buFont typeface="Arial"/>
              <a:buChar char="•"/>
            </a:pPr>
            <a:r>
              <a:rPr lang="en-US" sz="4454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Deploy the final model using Streamlit</a:t>
            </a:r>
          </a:p>
          <a:p>
            <a:pPr algn="l">
              <a:lnSpc>
                <a:spcPts val="623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2636508" y="6892217"/>
            <a:ext cx="16230600" cy="8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2"/>
              </a:lnSpc>
            </a:pPr>
            <a:r>
              <a:rPr lang="en-US" sz="66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Proj</a:t>
            </a:r>
            <a:r>
              <a:rPr lang="en-US" sz="66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ect question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7131" y="7819038"/>
            <a:ext cx="17034892" cy="163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7"/>
              </a:lnSpc>
              <a:spcBef>
                <a:spcPct val="0"/>
              </a:spcBef>
            </a:pPr>
            <a:r>
              <a:rPr lang="en-US" b="true" sz="4676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Can machine learning predict the cancer type of a sample using gene expression data?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4607" y="6386777"/>
            <a:ext cx="12164244" cy="3813449"/>
            <a:chOff x="0" y="0"/>
            <a:chExt cx="6378975" cy="19997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78975" cy="1999787"/>
            </a:xfrm>
            <a:custGeom>
              <a:avLst/>
              <a:gdLst/>
              <a:ahLst/>
              <a:cxnLst/>
              <a:rect r="r" b="b" t="t" l="l"/>
              <a:pathLst>
                <a:path h="1999787" w="6378975">
                  <a:moveTo>
                    <a:pt x="7001" y="0"/>
                  </a:moveTo>
                  <a:lnTo>
                    <a:pt x="6371974" y="0"/>
                  </a:lnTo>
                  <a:cubicBezTo>
                    <a:pt x="6373831" y="0"/>
                    <a:pt x="6375612" y="738"/>
                    <a:pt x="6376925" y="2051"/>
                  </a:cubicBezTo>
                  <a:cubicBezTo>
                    <a:pt x="6378238" y="3363"/>
                    <a:pt x="6378975" y="5144"/>
                    <a:pt x="6378975" y="7001"/>
                  </a:cubicBezTo>
                  <a:lnTo>
                    <a:pt x="6378975" y="1992786"/>
                  </a:lnTo>
                  <a:cubicBezTo>
                    <a:pt x="6378975" y="1996652"/>
                    <a:pt x="6375841" y="1999787"/>
                    <a:pt x="6371974" y="1999787"/>
                  </a:cubicBezTo>
                  <a:lnTo>
                    <a:pt x="7001" y="1999787"/>
                  </a:lnTo>
                  <a:cubicBezTo>
                    <a:pt x="5144" y="1999787"/>
                    <a:pt x="3363" y="1999049"/>
                    <a:pt x="2051" y="1997736"/>
                  </a:cubicBezTo>
                  <a:cubicBezTo>
                    <a:pt x="738" y="1996423"/>
                    <a:pt x="0" y="1994643"/>
                    <a:pt x="0" y="1992786"/>
                  </a:cubicBezTo>
                  <a:lnTo>
                    <a:pt x="0" y="7001"/>
                  </a:lnTo>
                  <a:cubicBezTo>
                    <a:pt x="0" y="3134"/>
                    <a:pt x="3134" y="0"/>
                    <a:pt x="70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378975" cy="2009312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1578" y="3125038"/>
            <a:ext cx="17884843" cy="2727439"/>
          </a:xfrm>
          <a:custGeom>
            <a:avLst/>
            <a:gdLst/>
            <a:ahLst/>
            <a:cxnLst/>
            <a:rect r="r" b="b" t="t" l="l"/>
            <a:pathLst>
              <a:path h="2727439" w="17884843">
                <a:moveTo>
                  <a:pt x="0" y="0"/>
                </a:moveTo>
                <a:lnTo>
                  <a:pt x="17884844" y="0"/>
                </a:lnTo>
                <a:lnTo>
                  <a:pt x="17884844" y="2727438"/>
                </a:lnTo>
                <a:lnTo>
                  <a:pt x="0" y="2727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09675"/>
            <a:ext cx="16230600" cy="101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2"/>
              </a:lnSpc>
            </a:pPr>
            <a:r>
              <a:rPr lang="en-US" sz="78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D</a:t>
            </a:r>
            <a:r>
              <a:rPr lang="en-US" sz="78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ataset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607" y="6670035"/>
            <a:ext cx="15053998" cy="356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323" indent="-439661" lvl="1">
              <a:lnSpc>
                <a:spcPts val="5701"/>
              </a:lnSpc>
              <a:buFont typeface="Arial"/>
              <a:buChar char="•"/>
            </a:pPr>
            <a:r>
              <a:rPr lang="en-US" sz="407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Dat</a:t>
            </a:r>
            <a:r>
              <a:rPr lang="en-US" sz="407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aset contains gene expression values</a:t>
            </a:r>
          </a:p>
          <a:p>
            <a:pPr algn="l" marL="879323" indent="-439661" lvl="1">
              <a:lnSpc>
                <a:spcPts val="5701"/>
              </a:lnSpc>
              <a:buFont typeface="Arial"/>
              <a:buChar char="•"/>
            </a:pPr>
            <a:r>
              <a:rPr lang="en-US" sz="407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150 samples and 14,574 features</a:t>
            </a:r>
          </a:p>
          <a:p>
            <a:pPr algn="l" marL="879323" indent="-439661" lvl="1">
              <a:lnSpc>
                <a:spcPts val="5701"/>
              </a:lnSpc>
              <a:buFont typeface="Arial"/>
              <a:buChar char="•"/>
            </a:pPr>
            <a:r>
              <a:rPr lang="en-US" sz="407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Multi-class cancer classification problem</a:t>
            </a:r>
          </a:p>
          <a:p>
            <a:pPr algn="l" marL="879323" indent="-439661" lvl="1">
              <a:lnSpc>
                <a:spcPts val="5701"/>
              </a:lnSpc>
              <a:buFont typeface="Arial"/>
              <a:buChar char="•"/>
            </a:pPr>
            <a:r>
              <a:rPr lang="en-US" sz="407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Real-world biomedical dataset</a:t>
            </a:r>
          </a:p>
          <a:p>
            <a:pPr algn="l">
              <a:lnSpc>
                <a:spcPts val="570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531" y="5853779"/>
            <a:ext cx="11033692" cy="4070898"/>
            <a:chOff x="0" y="0"/>
            <a:chExt cx="3238715" cy="1194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38715" cy="1194929"/>
            </a:xfrm>
            <a:custGeom>
              <a:avLst/>
              <a:gdLst/>
              <a:ahLst/>
              <a:cxnLst/>
              <a:rect r="r" b="b" t="t" l="l"/>
              <a:pathLst>
                <a:path h="1194929" w="3238715">
                  <a:moveTo>
                    <a:pt x="7718" y="0"/>
                  </a:moveTo>
                  <a:lnTo>
                    <a:pt x="3230997" y="0"/>
                  </a:lnTo>
                  <a:cubicBezTo>
                    <a:pt x="3235260" y="0"/>
                    <a:pt x="3238715" y="3456"/>
                    <a:pt x="3238715" y="7718"/>
                  </a:cubicBezTo>
                  <a:lnTo>
                    <a:pt x="3238715" y="1187211"/>
                  </a:lnTo>
                  <a:cubicBezTo>
                    <a:pt x="3238715" y="1189258"/>
                    <a:pt x="3237902" y="1191221"/>
                    <a:pt x="3236455" y="1192668"/>
                  </a:cubicBezTo>
                  <a:cubicBezTo>
                    <a:pt x="3235007" y="1194116"/>
                    <a:pt x="3233044" y="1194929"/>
                    <a:pt x="3230997" y="1194929"/>
                  </a:cubicBezTo>
                  <a:lnTo>
                    <a:pt x="7718" y="1194929"/>
                  </a:lnTo>
                  <a:cubicBezTo>
                    <a:pt x="5671" y="1194929"/>
                    <a:pt x="3708" y="1194116"/>
                    <a:pt x="2261" y="1192668"/>
                  </a:cubicBezTo>
                  <a:cubicBezTo>
                    <a:pt x="813" y="1191221"/>
                    <a:pt x="0" y="1189258"/>
                    <a:pt x="0" y="1187211"/>
                  </a:cubicBezTo>
                  <a:lnTo>
                    <a:pt x="0" y="7718"/>
                  </a:lnTo>
                  <a:cubicBezTo>
                    <a:pt x="0" y="5671"/>
                    <a:pt x="813" y="3708"/>
                    <a:pt x="2261" y="2261"/>
                  </a:cubicBezTo>
                  <a:cubicBezTo>
                    <a:pt x="3708" y="813"/>
                    <a:pt x="5671" y="0"/>
                    <a:pt x="7718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38715" cy="1252079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l">
                <a:lnSpc>
                  <a:spcPts val="3609"/>
                </a:lnSpc>
              </a:pPr>
            </a:p>
            <a:p>
              <a:pPr algn="l" marL="772512" indent="-386256" lvl="1">
                <a:lnSpc>
                  <a:spcPts val="5009"/>
                </a:lnSpc>
                <a:buFont typeface="Arial"/>
                <a:buChar char="•"/>
              </a:pPr>
              <a:r>
                <a:rPr lang="en-US" sz="3578">
                  <a:solidFill>
                    <a:srgbClr val="1B3A2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Missing values detected in many genes</a:t>
              </a:r>
            </a:p>
            <a:p>
              <a:pPr algn="l" marL="772512" indent="-386256" lvl="1">
                <a:lnSpc>
                  <a:spcPts val="5009"/>
                </a:lnSpc>
                <a:buFont typeface="Arial"/>
                <a:buChar char="•"/>
              </a:pPr>
              <a:r>
                <a:rPr lang="en-US" sz="3578">
                  <a:solidFill>
                    <a:srgbClr val="1B3A2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Missing values handled during preprocessing</a:t>
              </a:r>
            </a:p>
            <a:p>
              <a:pPr algn="l" marL="794101" indent="-397051" lvl="1">
                <a:lnSpc>
                  <a:spcPts val="5149"/>
                </a:lnSpc>
                <a:buFont typeface="Arial"/>
                <a:buChar char="•"/>
              </a:pPr>
              <a:r>
                <a:rPr lang="en-US" sz="3678">
                  <a:solidFill>
                    <a:srgbClr val="1B3A2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Dataset cleaned successfully</a:t>
              </a:r>
            </a:p>
            <a:p>
              <a:pPr algn="l" marL="794101" indent="-397051" lvl="1">
                <a:lnSpc>
                  <a:spcPts val="5149"/>
                </a:lnSpc>
                <a:buFont typeface="Arial"/>
                <a:buChar char="•"/>
              </a:pPr>
              <a:r>
                <a:rPr lang="en-US" sz="3678">
                  <a:solidFill>
                    <a:srgbClr val="1B3A2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Final dataset ready for analysis</a:t>
              </a:r>
            </a:p>
            <a:p>
              <a:pPr algn="l">
                <a:lnSpc>
                  <a:spcPts val="430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995298" y="2675972"/>
            <a:ext cx="6842939" cy="5780553"/>
          </a:xfrm>
          <a:custGeom>
            <a:avLst/>
            <a:gdLst/>
            <a:ahLst/>
            <a:cxnLst/>
            <a:rect r="r" b="b" t="t" l="l"/>
            <a:pathLst>
              <a:path h="5780553" w="6842939">
                <a:moveTo>
                  <a:pt x="0" y="0"/>
                </a:moveTo>
                <a:lnTo>
                  <a:pt x="6842939" y="0"/>
                </a:lnTo>
                <a:lnTo>
                  <a:pt x="6842939" y="5780553"/>
                </a:lnTo>
                <a:lnTo>
                  <a:pt x="0" y="578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6" t="0" r="-856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1361" y="2801942"/>
            <a:ext cx="9480454" cy="2341558"/>
          </a:xfrm>
          <a:custGeom>
            <a:avLst/>
            <a:gdLst/>
            <a:ahLst/>
            <a:cxnLst/>
            <a:rect r="r" b="b" t="t" l="l"/>
            <a:pathLst>
              <a:path h="2341558" w="9480454">
                <a:moveTo>
                  <a:pt x="0" y="0"/>
                </a:moveTo>
                <a:lnTo>
                  <a:pt x="9480454" y="0"/>
                </a:lnTo>
                <a:lnTo>
                  <a:pt x="9480454" y="2341558"/>
                </a:lnTo>
                <a:lnTo>
                  <a:pt x="0" y="2341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4881" y="1171575"/>
            <a:ext cx="17838237" cy="88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4"/>
              </a:lnSpc>
            </a:pPr>
            <a:r>
              <a:rPr lang="en-US" sz="6793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Missing Values &amp; Data Cleaning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65283"/>
            <a:ext cx="18536176" cy="2433468"/>
            <a:chOff x="0" y="0"/>
            <a:chExt cx="6557048" cy="860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57049" cy="860823"/>
            </a:xfrm>
            <a:custGeom>
              <a:avLst/>
              <a:gdLst/>
              <a:ahLst/>
              <a:cxnLst/>
              <a:rect r="r" b="b" t="t" l="l"/>
              <a:pathLst>
                <a:path h="860823" w="6557049">
                  <a:moveTo>
                    <a:pt x="4594" y="0"/>
                  </a:moveTo>
                  <a:lnTo>
                    <a:pt x="6552454" y="0"/>
                  </a:lnTo>
                  <a:cubicBezTo>
                    <a:pt x="6554991" y="0"/>
                    <a:pt x="6557049" y="2057"/>
                    <a:pt x="6557049" y="4594"/>
                  </a:cubicBezTo>
                  <a:lnTo>
                    <a:pt x="6557049" y="856229"/>
                  </a:lnTo>
                  <a:cubicBezTo>
                    <a:pt x="6557049" y="858766"/>
                    <a:pt x="6554991" y="860823"/>
                    <a:pt x="6552454" y="860823"/>
                  </a:cubicBezTo>
                  <a:lnTo>
                    <a:pt x="4594" y="860823"/>
                  </a:lnTo>
                  <a:cubicBezTo>
                    <a:pt x="3376" y="860823"/>
                    <a:pt x="2207" y="860339"/>
                    <a:pt x="1346" y="859477"/>
                  </a:cubicBezTo>
                  <a:cubicBezTo>
                    <a:pt x="484" y="858616"/>
                    <a:pt x="0" y="857447"/>
                    <a:pt x="0" y="856229"/>
                  </a:cubicBezTo>
                  <a:lnTo>
                    <a:pt x="0" y="4594"/>
                  </a:lnTo>
                  <a:cubicBezTo>
                    <a:pt x="0" y="2057"/>
                    <a:pt x="2057" y="0"/>
                    <a:pt x="4594" y="0"/>
                  </a:cubicBezTo>
                  <a:close/>
                </a:path>
              </a:pathLst>
            </a:custGeom>
            <a:solidFill>
              <a:srgbClr val="9B4D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557048" cy="870348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8921" y="2414541"/>
            <a:ext cx="15578204" cy="2492090"/>
            <a:chOff x="0" y="0"/>
            <a:chExt cx="5714311" cy="9141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4311" cy="914135"/>
            </a:xfrm>
            <a:custGeom>
              <a:avLst/>
              <a:gdLst/>
              <a:ahLst/>
              <a:cxnLst/>
              <a:rect r="r" b="b" t="t" l="l"/>
              <a:pathLst>
                <a:path h="914135" w="5714311">
                  <a:moveTo>
                    <a:pt x="5467" y="0"/>
                  </a:moveTo>
                  <a:lnTo>
                    <a:pt x="5708844" y="0"/>
                  </a:lnTo>
                  <a:cubicBezTo>
                    <a:pt x="5710294" y="0"/>
                    <a:pt x="5711685" y="576"/>
                    <a:pt x="5712710" y="1601"/>
                  </a:cubicBezTo>
                  <a:cubicBezTo>
                    <a:pt x="5713735" y="2626"/>
                    <a:pt x="5714311" y="4017"/>
                    <a:pt x="5714311" y="5467"/>
                  </a:cubicBezTo>
                  <a:lnTo>
                    <a:pt x="5714311" y="908668"/>
                  </a:lnTo>
                  <a:cubicBezTo>
                    <a:pt x="5714311" y="911687"/>
                    <a:pt x="5711863" y="914135"/>
                    <a:pt x="5708844" y="914135"/>
                  </a:cubicBezTo>
                  <a:lnTo>
                    <a:pt x="5467" y="914135"/>
                  </a:lnTo>
                  <a:cubicBezTo>
                    <a:pt x="2448" y="914135"/>
                    <a:pt x="0" y="911687"/>
                    <a:pt x="0" y="908668"/>
                  </a:cubicBezTo>
                  <a:lnTo>
                    <a:pt x="0" y="5467"/>
                  </a:lnTo>
                  <a:cubicBezTo>
                    <a:pt x="0" y="4017"/>
                    <a:pt x="576" y="2626"/>
                    <a:pt x="1601" y="1601"/>
                  </a:cubicBezTo>
                  <a:cubicBezTo>
                    <a:pt x="2626" y="576"/>
                    <a:pt x="4017" y="0"/>
                    <a:pt x="5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714311" cy="923660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87759" y="8364275"/>
            <a:ext cx="5447115" cy="1034988"/>
            <a:chOff x="0" y="0"/>
            <a:chExt cx="1998081" cy="3796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081" cy="379649"/>
            </a:xfrm>
            <a:custGeom>
              <a:avLst/>
              <a:gdLst/>
              <a:ahLst/>
              <a:cxnLst/>
              <a:rect r="r" b="b" t="t" l="l"/>
              <a:pathLst>
                <a:path h="379649" w="1998081">
                  <a:moveTo>
                    <a:pt x="15634" y="0"/>
                  </a:moveTo>
                  <a:lnTo>
                    <a:pt x="1982447" y="0"/>
                  </a:lnTo>
                  <a:cubicBezTo>
                    <a:pt x="1986593" y="0"/>
                    <a:pt x="1990570" y="1647"/>
                    <a:pt x="1993502" y="4579"/>
                  </a:cubicBezTo>
                  <a:cubicBezTo>
                    <a:pt x="1996434" y="7511"/>
                    <a:pt x="1998081" y="11488"/>
                    <a:pt x="1998081" y="15634"/>
                  </a:cubicBezTo>
                  <a:lnTo>
                    <a:pt x="1998081" y="364014"/>
                  </a:lnTo>
                  <a:cubicBezTo>
                    <a:pt x="1998081" y="368161"/>
                    <a:pt x="1996434" y="372137"/>
                    <a:pt x="1993502" y="375069"/>
                  </a:cubicBezTo>
                  <a:cubicBezTo>
                    <a:pt x="1990570" y="378001"/>
                    <a:pt x="1986593" y="379649"/>
                    <a:pt x="1982447" y="379649"/>
                  </a:cubicBezTo>
                  <a:lnTo>
                    <a:pt x="15634" y="379649"/>
                  </a:lnTo>
                  <a:cubicBezTo>
                    <a:pt x="11488" y="379649"/>
                    <a:pt x="7511" y="378001"/>
                    <a:pt x="4579" y="375069"/>
                  </a:cubicBezTo>
                  <a:cubicBezTo>
                    <a:pt x="1647" y="372137"/>
                    <a:pt x="0" y="368161"/>
                    <a:pt x="0" y="364014"/>
                  </a:cubicBezTo>
                  <a:lnTo>
                    <a:pt x="0" y="15634"/>
                  </a:lnTo>
                  <a:cubicBezTo>
                    <a:pt x="0" y="11488"/>
                    <a:pt x="1647" y="7511"/>
                    <a:pt x="4579" y="4579"/>
                  </a:cubicBezTo>
                  <a:cubicBezTo>
                    <a:pt x="7511" y="1647"/>
                    <a:pt x="11488" y="0"/>
                    <a:pt x="156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98081" cy="389174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27815" y="4703770"/>
            <a:ext cx="11091011" cy="5583230"/>
          </a:xfrm>
          <a:custGeom>
            <a:avLst/>
            <a:gdLst/>
            <a:ahLst/>
            <a:cxnLst/>
            <a:rect r="r" b="b" t="t" l="l"/>
            <a:pathLst>
              <a:path h="5583230" w="11091011">
                <a:moveTo>
                  <a:pt x="0" y="0"/>
                </a:moveTo>
                <a:lnTo>
                  <a:pt x="11091011" y="0"/>
                </a:lnTo>
                <a:lnTo>
                  <a:pt x="11091011" y="5583230"/>
                </a:lnTo>
                <a:lnTo>
                  <a:pt x="0" y="558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9868" y="838831"/>
            <a:ext cx="18008265" cy="95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7"/>
              </a:lnSpc>
            </a:pPr>
            <a:r>
              <a:rPr lang="en-US" sz="73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 Explor</a:t>
            </a:r>
            <a:r>
              <a:rPr lang="en-US" sz="73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atory Data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9943" y="2666324"/>
            <a:ext cx="12792026" cy="268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8661" indent="-414330" lvl="1">
              <a:lnSpc>
                <a:spcPts val="5373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Cl</a:t>
            </a:r>
            <a:r>
              <a:rPr lang="en-US" sz="383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ass distribution analyzed</a:t>
            </a:r>
          </a:p>
          <a:p>
            <a:pPr algn="l" marL="828661" indent="-414330" lvl="1">
              <a:lnSpc>
                <a:spcPts val="5373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Some classes contain more samples than others</a:t>
            </a:r>
          </a:p>
          <a:p>
            <a:pPr algn="l" marL="828661" indent="-414330" lvl="1">
              <a:lnSpc>
                <a:spcPts val="5373"/>
              </a:lnSpc>
              <a:buFont typeface="Arial"/>
              <a:buChar char="•"/>
            </a:pPr>
            <a:r>
              <a:rPr lang="en-US" sz="383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Dataset shows moderate imbalance</a:t>
            </a:r>
          </a:p>
          <a:p>
            <a:pPr algn="l">
              <a:lnSpc>
                <a:spcPts val="537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97337" y="3367322"/>
            <a:ext cx="10090663" cy="6815685"/>
          </a:xfrm>
          <a:custGeom>
            <a:avLst/>
            <a:gdLst/>
            <a:ahLst/>
            <a:cxnLst/>
            <a:rect r="r" b="b" t="t" l="l"/>
            <a:pathLst>
              <a:path h="6815685" w="10090663">
                <a:moveTo>
                  <a:pt x="0" y="0"/>
                </a:moveTo>
                <a:lnTo>
                  <a:pt x="10090663" y="0"/>
                </a:lnTo>
                <a:lnTo>
                  <a:pt x="10090663" y="6815685"/>
                </a:lnTo>
                <a:lnTo>
                  <a:pt x="0" y="6815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8" t="0" r="-140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871" y="3573342"/>
            <a:ext cx="7605609" cy="4750154"/>
            <a:chOff x="0" y="0"/>
            <a:chExt cx="2789847" cy="17424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89847" cy="1742425"/>
            </a:xfrm>
            <a:custGeom>
              <a:avLst/>
              <a:gdLst/>
              <a:ahLst/>
              <a:cxnLst/>
              <a:rect r="r" b="b" t="t" l="l"/>
              <a:pathLst>
                <a:path h="1742425" w="2789847">
                  <a:moveTo>
                    <a:pt x="11197" y="0"/>
                  </a:moveTo>
                  <a:lnTo>
                    <a:pt x="2778650" y="0"/>
                  </a:lnTo>
                  <a:cubicBezTo>
                    <a:pt x="2781620" y="0"/>
                    <a:pt x="2784468" y="1180"/>
                    <a:pt x="2786568" y="3280"/>
                  </a:cubicBezTo>
                  <a:cubicBezTo>
                    <a:pt x="2788668" y="5379"/>
                    <a:pt x="2789847" y="8227"/>
                    <a:pt x="2789847" y="11197"/>
                  </a:cubicBezTo>
                  <a:lnTo>
                    <a:pt x="2789847" y="1731228"/>
                  </a:lnTo>
                  <a:cubicBezTo>
                    <a:pt x="2789847" y="1737412"/>
                    <a:pt x="2784834" y="1742425"/>
                    <a:pt x="2778650" y="1742425"/>
                  </a:cubicBezTo>
                  <a:lnTo>
                    <a:pt x="11197" y="1742425"/>
                  </a:lnTo>
                  <a:cubicBezTo>
                    <a:pt x="8227" y="1742425"/>
                    <a:pt x="5379" y="1741245"/>
                    <a:pt x="3280" y="1739145"/>
                  </a:cubicBezTo>
                  <a:cubicBezTo>
                    <a:pt x="1180" y="1737046"/>
                    <a:pt x="0" y="1734198"/>
                    <a:pt x="0" y="1731228"/>
                  </a:cubicBezTo>
                  <a:lnTo>
                    <a:pt x="0" y="11197"/>
                  </a:lnTo>
                  <a:cubicBezTo>
                    <a:pt x="0" y="8227"/>
                    <a:pt x="1180" y="5379"/>
                    <a:pt x="3280" y="3280"/>
                  </a:cubicBezTo>
                  <a:cubicBezTo>
                    <a:pt x="5379" y="1180"/>
                    <a:pt x="8227" y="0"/>
                    <a:pt x="111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789847" cy="1751950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3497142"/>
            <a:ext cx="7707479" cy="444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3330" indent="-461665" lvl="1">
              <a:lnSpc>
                <a:spcPts val="5987"/>
              </a:lnSpc>
              <a:buFont typeface="Arial"/>
              <a:buChar char="•"/>
            </a:pPr>
            <a:r>
              <a:rPr lang="en-US" sz="427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Distribution of selected gene expression features</a:t>
            </a:r>
          </a:p>
          <a:p>
            <a:pPr algn="l" marL="901741" indent="-450870" lvl="1">
              <a:lnSpc>
                <a:spcPts val="5847"/>
              </a:lnSpc>
              <a:buFont typeface="Arial"/>
              <a:buChar char="•"/>
            </a:pPr>
            <a:r>
              <a:rPr lang="en-US" sz="417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Most genes centered around zero</a:t>
            </a:r>
          </a:p>
          <a:p>
            <a:pPr algn="l" marL="923330" indent="-461665" lvl="1">
              <a:lnSpc>
                <a:spcPts val="5987"/>
              </a:lnSpc>
              <a:buFont typeface="Arial"/>
              <a:buChar char="•"/>
            </a:pPr>
            <a:r>
              <a:rPr lang="en-US" sz="427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Presence of outliers and variability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0"/>
            <a:ext cx="18536176" cy="2433468"/>
            <a:chOff x="0" y="0"/>
            <a:chExt cx="6557048" cy="8608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57049" cy="860823"/>
            </a:xfrm>
            <a:custGeom>
              <a:avLst/>
              <a:gdLst/>
              <a:ahLst/>
              <a:cxnLst/>
              <a:rect r="r" b="b" t="t" l="l"/>
              <a:pathLst>
                <a:path h="860823" w="6557049">
                  <a:moveTo>
                    <a:pt x="4594" y="0"/>
                  </a:moveTo>
                  <a:lnTo>
                    <a:pt x="6552454" y="0"/>
                  </a:lnTo>
                  <a:cubicBezTo>
                    <a:pt x="6554991" y="0"/>
                    <a:pt x="6557049" y="2057"/>
                    <a:pt x="6557049" y="4594"/>
                  </a:cubicBezTo>
                  <a:lnTo>
                    <a:pt x="6557049" y="856229"/>
                  </a:lnTo>
                  <a:cubicBezTo>
                    <a:pt x="6557049" y="858766"/>
                    <a:pt x="6554991" y="860823"/>
                    <a:pt x="6552454" y="860823"/>
                  </a:cubicBezTo>
                  <a:lnTo>
                    <a:pt x="4594" y="860823"/>
                  </a:lnTo>
                  <a:cubicBezTo>
                    <a:pt x="3376" y="860823"/>
                    <a:pt x="2207" y="860339"/>
                    <a:pt x="1346" y="859477"/>
                  </a:cubicBezTo>
                  <a:cubicBezTo>
                    <a:pt x="484" y="858616"/>
                    <a:pt x="0" y="857447"/>
                    <a:pt x="0" y="856229"/>
                  </a:cubicBezTo>
                  <a:lnTo>
                    <a:pt x="0" y="4594"/>
                  </a:lnTo>
                  <a:cubicBezTo>
                    <a:pt x="0" y="2057"/>
                    <a:pt x="2057" y="0"/>
                    <a:pt x="4594" y="0"/>
                  </a:cubicBezTo>
                  <a:close/>
                </a:path>
              </a:pathLst>
            </a:custGeom>
            <a:solidFill>
              <a:srgbClr val="9B4DC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557048" cy="870348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95937" y="876300"/>
            <a:ext cx="12629852" cy="126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7"/>
              </a:lnSpc>
              <a:spcBef>
                <a:spcPct val="0"/>
              </a:spcBef>
            </a:pPr>
            <a:r>
              <a:rPr lang="en-US" b="true" sz="73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Feature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923" y="-265283"/>
            <a:ext cx="18784099" cy="2163581"/>
            <a:chOff x="0" y="0"/>
            <a:chExt cx="6644749" cy="765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44749" cy="765352"/>
            </a:xfrm>
            <a:custGeom>
              <a:avLst/>
              <a:gdLst/>
              <a:ahLst/>
              <a:cxnLst/>
              <a:rect r="r" b="b" t="t" l="l"/>
              <a:pathLst>
                <a:path h="765352" w="6644749">
                  <a:moveTo>
                    <a:pt x="4534" y="0"/>
                  </a:moveTo>
                  <a:lnTo>
                    <a:pt x="6640216" y="0"/>
                  </a:lnTo>
                  <a:cubicBezTo>
                    <a:pt x="6642719" y="0"/>
                    <a:pt x="6644749" y="2030"/>
                    <a:pt x="6644749" y="4534"/>
                  </a:cubicBezTo>
                  <a:lnTo>
                    <a:pt x="6644749" y="760819"/>
                  </a:lnTo>
                  <a:cubicBezTo>
                    <a:pt x="6644749" y="763322"/>
                    <a:pt x="6642719" y="765352"/>
                    <a:pt x="6640216" y="765352"/>
                  </a:cubicBezTo>
                  <a:lnTo>
                    <a:pt x="4534" y="765352"/>
                  </a:lnTo>
                  <a:cubicBezTo>
                    <a:pt x="3331" y="765352"/>
                    <a:pt x="2178" y="764875"/>
                    <a:pt x="1328" y="764024"/>
                  </a:cubicBezTo>
                  <a:cubicBezTo>
                    <a:pt x="478" y="763174"/>
                    <a:pt x="0" y="762021"/>
                    <a:pt x="0" y="760819"/>
                  </a:cubicBezTo>
                  <a:lnTo>
                    <a:pt x="0" y="4534"/>
                  </a:lnTo>
                  <a:cubicBezTo>
                    <a:pt x="0" y="2030"/>
                    <a:pt x="2030" y="0"/>
                    <a:pt x="4534" y="0"/>
                  </a:cubicBezTo>
                  <a:close/>
                </a:path>
              </a:pathLst>
            </a:custGeom>
            <a:solidFill>
              <a:srgbClr val="9B4D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644749" cy="774877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75896" y="4519147"/>
            <a:ext cx="11457497" cy="5767853"/>
          </a:xfrm>
          <a:custGeom>
            <a:avLst/>
            <a:gdLst/>
            <a:ahLst/>
            <a:cxnLst/>
            <a:rect r="r" b="b" t="t" l="l"/>
            <a:pathLst>
              <a:path h="5767853" w="11457497">
                <a:moveTo>
                  <a:pt x="0" y="0"/>
                </a:moveTo>
                <a:lnTo>
                  <a:pt x="11457497" y="0"/>
                </a:lnTo>
                <a:lnTo>
                  <a:pt x="11457497" y="5767853"/>
                </a:lnTo>
                <a:lnTo>
                  <a:pt x="0" y="5767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2199" y="644916"/>
            <a:ext cx="16230600" cy="95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7"/>
              </a:lnSpc>
            </a:pPr>
            <a:r>
              <a:rPr lang="en-US" sz="73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Boxpl</a:t>
            </a:r>
            <a:r>
              <a:rPr lang="en-US" sz="73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ot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239365"/>
            <a:ext cx="11403153" cy="29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99004" indent="-449502" lvl="1">
              <a:lnSpc>
                <a:spcPts val="5829"/>
              </a:lnSpc>
              <a:buFont typeface="Arial"/>
              <a:buChar char="•"/>
            </a:pPr>
            <a:r>
              <a:rPr lang="en-US" sz="416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Outliers detected </a:t>
            </a:r>
            <a:r>
              <a:rPr lang="en-US" sz="416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acr</a:t>
            </a:r>
            <a:r>
              <a:rPr lang="en-US" sz="416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oss several genes</a:t>
            </a:r>
          </a:p>
          <a:p>
            <a:pPr algn="just" marL="899004" indent="-449502" lvl="1">
              <a:lnSpc>
                <a:spcPts val="5829"/>
              </a:lnSpc>
              <a:buFont typeface="Arial"/>
              <a:buChar char="•"/>
            </a:pPr>
            <a:r>
              <a:rPr lang="en-US" sz="416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Gene expression values show variability</a:t>
            </a:r>
          </a:p>
          <a:p>
            <a:pPr algn="just" marL="899004" indent="-449502" lvl="1">
              <a:lnSpc>
                <a:spcPts val="5829"/>
              </a:lnSpc>
              <a:buFont typeface="Arial"/>
              <a:buChar char="•"/>
            </a:pPr>
            <a:r>
              <a:rPr lang="en-US" sz="416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Important for understanding data spread</a:t>
            </a:r>
          </a:p>
          <a:p>
            <a:pPr algn="just">
              <a:lnSpc>
                <a:spcPts val="582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923" y="73173"/>
            <a:ext cx="18784099" cy="2108713"/>
            <a:chOff x="0" y="0"/>
            <a:chExt cx="6644749" cy="745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44749" cy="745943"/>
            </a:xfrm>
            <a:custGeom>
              <a:avLst/>
              <a:gdLst/>
              <a:ahLst/>
              <a:cxnLst/>
              <a:rect r="r" b="b" t="t" l="l"/>
              <a:pathLst>
                <a:path h="745943" w="6644749">
                  <a:moveTo>
                    <a:pt x="4534" y="0"/>
                  </a:moveTo>
                  <a:lnTo>
                    <a:pt x="6640216" y="0"/>
                  </a:lnTo>
                  <a:cubicBezTo>
                    <a:pt x="6642719" y="0"/>
                    <a:pt x="6644749" y="2030"/>
                    <a:pt x="6644749" y="4534"/>
                  </a:cubicBezTo>
                  <a:lnTo>
                    <a:pt x="6644749" y="741409"/>
                  </a:lnTo>
                  <a:cubicBezTo>
                    <a:pt x="6644749" y="743913"/>
                    <a:pt x="6642719" y="745943"/>
                    <a:pt x="6640216" y="745943"/>
                  </a:cubicBezTo>
                  <a:lnTo>
                    <a:pt x="4534" y="745943"/>
                  </a:lnTo>
                  <a:cubicBezTo>
                    <a:pt x="2030" y="745943"/>
                    <a:pt x="0" y="743913"/>
                    <a:pt x="0" y="741409"/>
                  </a:cubicBezTo>
                  <a:lnTo>
                    <a:pt x="0" y="4534"/>
                  </a:lnTo>
                  <a:cubicBezTo>
                    <a:pt x="0" y="2030"/>
                    <a:pt x="2030" y="0"/>
                    <a:pt x="4534" y="0"/>
                  </a:cubicBezTo>
                  <a:close/>
                </a:path>
              </a:pathLst>
            </a:custGeom>
            <a:solidFill>
              <a:srgbClr val="9B4D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644749" cy="755468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370866" y="2512261"/>
            <a:ext cx="8917134" cy="7364504"/>
          </a:xfrm>
          <a:custGeom>
            <a:avLst/>
            <a:gdLst/>
            <a:ahLst/>
            <a:cxnLst/>
            <a:rect r="r" b="b" t="t" l="l"/>
            <a:pathLst>
              <a:path h="7364504" w="8917134">
                <a:moveTo>
                  <a:pt x="0" y="0"/>
                </a:moveTo>
                <a:lnTo>
                  <a:pt x="8917134" y="0"/>
                </a:lnTo>
                <a:lnTo>
                  <a:pt x="8917134" y="7364504"/>
                </a:lnTo>
                <a:lnTo>
                  <a:pt x="0" y="736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4832" y="897970"/>
            <a:ext cx="16230600" cy="272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7"/>
              </a:lnSpc>
            </a:pPr>
            <a:r>
              <a:rPr lang="en-US" sz="73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C</a:t>
            </a:r>
            <a:r>
              <a:rPr lang="en-US" sz="7376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orrelation Analysis</a:t>
            </a:r>
          </a:p>
          <a:p>
            <a:pPr algn="ctr">
              <a:lnSpc>
                <a:spcPts val="7007"/>
              </a:lnSpc>
            </a:pPr>
          </a:p>
          <a:p>
            <a:pPr algn="ctr">
              <a:lnSpc>
                <a:spcPts val="700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247923" y="3298347"/>
            <a:ext cx="9392049" cy="509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5653" indent="-447826" lvl="1">
              <a:lnSpc>
                <a:spcPts val="5807"/>
              </a:lnSpc>
              <a:buFont typeface="Arial"/>
              <a:buChar char="•"/>
            </a:pPr>
            <a:r>
              <a:rPr lang="en-US" sz="414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</a:t>
            </a:r>
            <a:r>
              <a:rPr lang="en-US" sz="414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elationship</a:t>
            </a:r>
            <a:r>
              <a:rPr lang="en-US" sz="414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between gene features visualized</a:t>
            </a:r>
          </a:p>
          <a:p>
            <a:pPr algn="l" marL="895653" indent="-447826" lvl="1">
              <a:lnSpc>
                <a:spcPts val="5807"/>
              </a:lnSpc>
              <a:buFont typeface="Arial"/>
              <a:buChar char="•"/>
            </a:pPr>
            <a:r>
              <a:rPr lang="en-US" sz="414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Different cancer classes overlap partially</a:t>
            </a:r>
          </a:p>
          <a:p>
            <a:pPr algn="l" marL="895653" indent="-447826" lvl="1">
              <a:lnSpc>
                <a:spcPts val="5807"/>
              </a:lnSpc>
              <a:buFont typeface="Arial"/>
              <a:buChar char="•"/>
            </a:pPr>
            <a:r>
              <a:rPr lang="en-US" sz="414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Indicates classification complexity</a:t>
            </a:r>
          </a:p>
          <a:p>
            <a:pPr algn="l">
              <a:lnSpc>
                <a:spcPts val="580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8049" y="-317590"/>
            <a:ext cx="18784099" cy="2109878"/>
            <a:chOff x="0" y="0"/>
            <a:chExt cx="6644749" cy="746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44749" cy="746355"/>
            </a:xfrm>
            <a:custGeom>
              <a:avLst/>
              <a:gdLst/>
              <a:ahLst/>
              <a:cxnLst/>
              <a:rect r="r" b="b" t="t" l="l"/>
              <a:pathLst>
                <a:path h="746355" w="6644749">
                  <a:moveTo>
                    <a:pt x="4534" y="0"/>
                  </a:moveTo>
                  <a:lnTo>
                    <a:pt x="6640216" y="0"/>
                  </a:lnTo>
                  <a:cubicBezTo>
                    <a:pt x="6642719" y="0"/>
                    <a:pt x="6644749" y="2030"/>
                    <a:pt x="6644749" y="4534"/>
                  </a:cubicBezTo>
                  <a:lnTo>
                    <a:pt x="6644749" y="741822"/>
                  </a:lnTo>
                  <a:cubicBezTo>
                    <a:pt x="6644749" y="744325"/>
                    <a:pt x="6642719" y="746355"/>
                    <a:pt x="6640216" y="746355"/>
                  </a:cubicBezTo>
                  <a:lnTo>
                    <a:pt x="4534" y="746355"/>
                  </a:lnTo>
                  <a:cubicBezTo>
                    <a:pt x="2030" y="746355"/>
                    <a:pt x="0" y="744325"/>
                    <a:pt x="0" y="741822"/>
                  </a:cubicBezTo>
                  <a:lnTo>
                    <a:pt x="0" y="4534"/>
                  </a:lnTo>
                  <a:cubicBezTo>
                    <a:pt x="0" y="2030"/>
                    <a:pt x="2030" y="0"/>
                    <a:pt x="4534" y="0"/>
                  </a:cubicBezTo>
                  <a:close/>
                </a:path>
              </a:pathLst>
            </a:custGeom>
            <a:solidFill>
              <a:srgbClr val="9B4D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644749" cy="755880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84348" y="5713780"/>
            <a:ext cx="9745633" cy="4334176"/>
          </a:xfrm>
          <a:custGeom>
            <a:avLst/>
            <a:gdLst/>
            <a:ahLst/>
            <a:cxnLst/>
            <a:rect r="r" b="b" t="t" l="l"/>
            <a:pathLst>
              <a:path h="4334176" w="9745633">
                <a:moveTo>
                  <a:pt x="0" y="0"/>
                </a:moveTo>
                <a:lnTo>
                  <a:pt x="9745633" y="0"/>
                </a:lnTo>
                <a:lnTo>
                  <a:pt x="9745633" y="4334176"/>
                </a:lnTo>
                <a:lnTo>
                  <a:pt x="0" y="4334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9126" y="671587"/>
            <a:ext cx="14766907" cy="86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6711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Featu</a:t>
            </a:r>
            <a:r>
              <a:rPr lang="en-US" sz="6711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re Engineering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7280" y="2429100"/>
            <a:ext cx="19548892" cy="364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6865" indent="-448433" lvl="1">
              <a:lnSpc>
                <a:spcPts val="5815"/>
              </a:lnSpc>
              <a:buFont typeface="Arial"/>
              <a:buChar char="•"/>
            </a:pPr>
            <a:r>
              <a:rPr lang="en-US" b="true" sz="4154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</a:t>
            </a:r>
            <a:r>
              <a:rPr lang="en-US" b="true" sz="4154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reated new statistical features</a:t>
            </a:r>
          </a:p>
          <a:p>
            <a:pPr algn="l" marL="896865" indent="-448433" lvl="1">
              <a:lnSpc>
                <a:spcPts val="5815"/>
              </a:lnSpc>
              <a:buFont typeface="Arial"/>
              <a:buChar char="•"/>
            </a:pPr>
            <a:r>
              <a:rPr lang="en-US" b="true" sz="4154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Mean gene expression</a:t>
            </a:r>
          </a:p>
          <a:p>
            <a:pPr algn="l" marL="896865" indent="-448433" lvl="1">
              <a:lnSpc>
                <a:spcPts val="5815"/>
              </a:lnSpc>
              <a:buFont typeface="Arial"/>
              <a:buChar char="•"/>
            </a:pPr>
            <a:r>
              <a:rPr lang="en-US" b="true" sz="4154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Standard deviation of gene expression</a:t>
            </a:r>
          </a:p>
          <a:p>
            <a:pPr algn="l" marL="896865" indent="-448433" lvl="1">
              <a:lnSpc>
                <a:spcPts val="5815"/>
              </a:lnSpc>
              <a:buFont typeface="Arial"/>
              <a:buChar char="•"/>
            </a:pPr>
            <a:r>
              <a:rPr lang="en-US" b="true" sz="4154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Improved feature representation</a:t>
            </a:r>
          </a:p>
          <a:p>
            <a:pPr algn="l">
              <a:lnSpc>
                <a:spcPts val="58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8049" y="-317590"/>
            <a:ext cx="18784099" cy="2109878"/>
            <a:chOff x="0" y="0"/>
            <a:chExt cx="6644749" cy="746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44749" cy="746355"/>
            </a:xfrm>
            <a:custGeom>
              <a:avLst/>
              <a:gdLst/>
              <a:ahLst/>
              <a:cxnLst/>
              <a:rect r="r" b="b" t="t" l="l"/>
              <a:pathLst>
                <a:path h="746355" w="6644749">
                  <a:moveTo>
                    <a:pt x="4534" y="0"/>
                  </a:moveTo>
                  <a:lnTo>
                    <a:pt x="6640216" y="0"/>
                  </a:lnTo>
                  <a:cubicBezTo>
                    <a:pt x="6642719" y="0"/>
                    <a:pt x="6644749" y="2030"/>
                    <a:pt x="6644749" y="4534"/>
                  </a:cubicBezTo>
                  <a:lnTo>
                    <a:pt x="6644749" y="741822"/>
                  </a:lnTo>
                  <a:cubicBezTo>
                    <a:pt x="6644749" y="744325"/>
                    <a:pt x="6642719" y="746355"/>
                    <a:pt x="6640216" y="746355"/>
                  </a:cubicBezTo>
                  <a:lnTo>
                    <a:pt x="4534" y="746355"/>
                  </a:lnTo>
                  <a:cubicBezTo>
                    <a:pt x="2030" y="746355"/>
                    <a:pt x="0" y="744325"/>
                    <a:pt x="0" y="741822"/>
                  </a:cubicBezTo>
                  <a:lnTo>
                    <a:pt x="0" y="4534"/>
                  </a:lnTo>
                  <a:cubicBezTo>
                    <a:pt x="0" y="2030"/>
                    <a:pt x="2030" y="0"/>
                    <a:pt x="4534" y="0"/>
                  </a:cubicBezTo>
                  <a:close/>
                </a:path>
              </a:pathLst>
            </a:custGeom>
            <a:solidFill>
              <a:srgbClr val="9B4D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644749" cy="755880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8972" y="2330775"/>
            <a:ext cx="19882910" cy="371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2189" indent="-456095" lvl="1">
              <a:lnSpc>
                <a:spcPts val="5915"/>
              </a:lnSpc>
              <a:buFont typeface="Arial"/>
              <a:buChar char="•"/>
            </a:pPr>
            <a:r>
              <a:rPr lang="en-US" b="true" sz="422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</a:t>
            </a:r>
            <a:r>
              <a:rPr lang="en-US" b="true" sz="422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electKBest with ANOVA F-test used</a:t>
            </a:r>
          </a:p>
          <a:p>
            <a:pPr algn="l" marL="912189" indent="-456095" lvl="1">
              <a:lnSpc>
                <a:spcPts val="5915"/>
              </a:lnSpc>
              <a:buFont typeface="Arial"/>
              <a:buChar char="•"/>
            </a:pPr>
            <a:r>
              <a:rPr lang="en-US" b="true" sz="422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Reduced features from 14,574 to 100</a:t>
            </a:r>
          </a:p>
          <a:p>
            <a:pPr algn="l" marL="912189" indent="-456095" lvl="1">
              <a:lnSpc>
                <a:spcPts val="5915"/>
              </a:lnSpc>
              <a:buFont typeface="Arial"/>
              <a:buChar char="•"/>
            </a:pPr>
            <a:r>
              <a:rPr lang="en-US" b="true" sz="422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Helps reduce dimensionality</a:t>
            </a:r>
          </a:p>
          <a:p>
            <a:pPr algn="l" marL="912189" indent="-456095" lvl="1">
              <a:lnSpc>
                <a:spcPts val="5915"/>
              </a:lnSpc>
              <a:buFont typeface="Arial"/>
              <a:buChar char="•"/>
            </a:pPr>
            <a:r>
              <a:rPr lang="en-US" b="true" sz="422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Improves model efficiency</a:t>
            </a:r>
          </a:p>
          <a:p>
            <a:pPr algn="l">
              <a:lnSpc>
                <a:spcPts val="5915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678506" y="6667276"/>
            <a:ext cx="14365436" cy="2098846"/>
          </a:xfrm>
          <a:custGeom>
            <a:avLst/>
            <a:gdLst/>
            <a:ahLst/>
            <a:cxnLst/>
            <a:rect r="r" b="b" t="t" l="l"/>
            <a:pathLst>
              <a:path h="2098846" w="14365436">
                <a:moveTo>
                  <a:pt x="0" y="0"/>
                </a:moveTo>
                <a:lnTo>
                  <a:pt x="14365436" y="0"/>
                </a:lnTo>
                <a:lnTo>
                  <a:pt x="14365436" y="2098846"/>
                </a:lnTo>
                <a:lnTo>
                  <a:pt x="0" y="2098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69126" y="671587"/>
            <a:ext cx="14766907" cy="86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6711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 Featu</a:t>
            </a:r>
            <a:r>
              <a:rPr lang="en-US" sz="6711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re Selection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8049" y="-317590"/>
            <a:ext cx="18784099" cy="2116776"/>
            <a:chOff x="0" y="0"/>
            <a:chExt cx="6644749" cy="748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44749" cy="748795"/>
            </a:xfrm>
            <a:custGeom>
              <a:avLst/>
              <a:gdLst/>
              <a:ahLst/>
              <a:cxnLst/>
              <a:rect r="r" b="b" t="t" l="l"/>
              <a:pathLst>
                <a:path h="748795" w="6644749">
                  <a:moveTo>
                    <a:pt x="4534" y="0"/>
                  </a:moveTo>
                  <a:lnTo>
                    <a:pt x="6640216" y="0"/>
                  </a:lnTo>
                  <a:cubicBezTo>
                    <a:pt x="6642719" y="0"/>
                    <a:pt x="6644749" y="2030"/>
                    <a:pt x="6644749" y="4534"/>
                  </a:cubicBezTo>
                  <a:lnTo>
                    <a:pt x="6644749" y="744262"/>
                  </a:lnTo>
                  <a:cubicBezTo>
                    <a:pt x="6644749" y="746765"/>
                    <a:pt x="6642719" y="748795"/>
                    <a:pt x="6640216" y="748795"/>
                  </a:cubicBezTo>
                  <a:lnTo>
                    <a:pt x="4534" y="748795"/>
                  </a:lnTo>
                  <a:cubicBezTo>
                    <a:pt x="2030" y="748795"/>
                    <a:pt x="0" y="746765"/>
                    <a:pt x="0" y="744262"/>
                  </a:cubicBezTo>
                  <a:lnTo>
                    <a:pt x="0" y="4534"/>
                  </a:lnTo>
                  <a:cubicBezTo>
                    <a:pt x="0" y="2030"/>
                    <a:pt x="2030" y="0"/>
                    <a:pt x="4534" y="0"/>
                  </a:cubicBezTo>
                  <a:close/>
                </a:path>
              </a:pathLst>
            </a:custGeom>
            <a:solidFill>
              <a:srgbClr val="9B4D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644749" cy="758320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12537" y="5712666"/>
            <a:ext cx="9466093" cy="2445647"/>
          </a:xfrm>
          <a:custGeom>
            <a:avLst/>
            <a:gdLst/>
            <a:ahLst/>
            <a:cxnLst/>
            <a:rect r="r" b="b" t="t" l="l"/>
            <a:pathLst>
              <a:path h="2445647" w="9466093">
                <a:moveTo>
                  <a:pt x="0" y="0"/>
                </a:moveTo>
                <a:lnTo>
                  <a:pt x="9466093" y="0"/>
                </a:lnTo>
                <a:lnTo>
                  <a:pt x="9466093" y="2445647"/>
                </a:lnTo>
                <a:lnTo>
                  <a:pt x="0" y="2445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78077" y="8684078"/>
            <a:ext cx="12058664" cy="1148444"/>
          </a:xfrm>
          <a:custGeom>
            <a:avLst/>
            <a:gdLst/>
            <a:ahLst/>
            <a:cxnLst/>
            <a:rect r="r" b="b" t="t" l="l"/>
            <a:pathLst>
              <a:path h="1148444" w="12058664">
                <a:moveTo>
                  <a:pt x="0" y="0"/>
                </a:moveTo>
                <a:lnTo>
                  <a:pt x="12058664" y="0"/>
                </a:lnTo>
                <a:lnTo>
                  <a:pt x="12058664" y="1148444"/>
                </a:lnTo>
                <a:lnTo>
                  <a:pt x="0" y="1148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94623" y="671587"/>
            <a:ext cx="14766907" cy="86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6711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T</a:t>
            </a:r>
            <a:r>
              <a:rPr lang="en-US" sz="6711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rain/Test Split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9932" y="2315743"/>
            <a:ext cx="18206118" cy="339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5261" indent="-417631" lvl="1">
              <a:lnSpc>
                <a:spcPts val="5416"/>
              </a:lnSpc>
              <a:buFont typeface="Arial"/>
              <a:buChar char="•"/>
            </a:pPr>
            <a:r>
              <a:rPr lang="en-US" b="true" sz="386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Dat</a:t>
            </a:r>
            <a:r>
              <a:rPr lang="en-US" b="true" sz="386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aset split into training and testing sets</a:t>
            </a:r>
          </a:p>
          <a:p>
            <a:pPr algn="l" marL="835261" indent="-417631" lvl="1">
              <a:lnSpc>
                <a:spcPts val="5416"/>
              </a:lnSpc>
              <a:buFont typeface="Arial"/>
              <a:buChar char="•"/>
            </a:pPr>
            <a:r>
              <a:rPr lang="en-US" b="true" sz="386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StandardScaler applied</a:t>
            </a:r>
          </a:p>
          <a:p>
            <a:pPr algn="l" marL="835261" indent="-417631" lvl="1">
              <a:lnSpc>
                <a:spcPts val="5416"/>
              </a:lnSpc>
              <a:buFont typeface="Arial"/>
              <a:buChar char="•"/>
            </a:pPr>
            <a:r>
              <a:rPr lang="en-US" b="true" sz="386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Prevented data leakage</a:t>
            </a:r>
          </a:p>
          <a:p>
            <a:pPr algn="l" marL="835261" indent="-417631" lvl="1">
              <a:lnSpc>
                <a:spcPts val="5416"/>
              </a:lnSpc>
              <a:buFont typeface="Arial"/>
              <a:buChar char="•"/>
            </a:pPr>
            <a:r>
              <a:rPr lang="en-US" b="true" sz="3868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Improved model performance</a:t>
            </a:r>
          </a:p>
          <a:p>
            <a:pPr algn="l">
              <a:lnSpc>
                <a:spcPts val="54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8049" y="-317590"/>
            <a:ext cx="18784099" cy="2184359"/>
            <a:chOff x="0" y="0"/>
            <a:chExt cx="6644749" cy="772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44749" cy="772702"/>
            </a:xfrm>
            <a:custGeom>
              <a:avLst/>
              <a:gdLst/>
              <a:ahLst/>
              <a:cxnLst/>
              <a:rect r="r" b="b" t="t" l="l"/>
              <a:pathLst>
                <a:path h="772702" w="6644749">
                  <a:moveTo>
                    <a:pt x="4534" y="0"/>
                  </a:moveTo>
                  <a:lnTo>
                    <a:pt x="6640216" y="0"/>
                  </a:lnTo>
                  <a:cubicBezTo>
                    <a:pt x="6642719" y="0"/>
                    <a:pt x="6644749" y="2030"/>
                    <a:pt x="6644749" y="4534"/>
                  </a:cubicBezTo>
                  <a:lnTo>
                    <a:pt x="6644749" y="768169"/>
                  </a:lnTo>
                  <a:cubicBezTo>
                    <a:pt x="6644749" y="770673"/>
                    <a:pt x="6642719" y="772702"/>
                    <a:pt x="6640216" y="772702"/>
                  </a:cubicBezTo>
                  <a:lnTo>
                    <a:pt x="4534" y="772702"/>
                  </a:lnTo>
                  <a:cubicBezTo>
                    <a:pt x="2030" y="772702"/>
                    <a:pt x="0" y="770673"/>
                    <a:pt x="0" y="768169"/>
                  </a:cubicBezTo>
                  <a:lnTo>
                    <a:pt x="0" y="4534"/>
                  </a:lnTo>
                  <a:cubicBezTo>
                    <a:pt x="0" y="2030"/>
                    <a:pt x="2030" y="0"/>
                    <a:pt x="4534" y="0"/>
                  </a:cubicBezTo>
                  <a:close/>
                </a:path>
              </a:pathLst>
            </a:custGeom>
            <a:solidFill>
              <a:srgbClr val="9B4D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644749" cy="782227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78111" y="5908323"/>
            <a:ext cx="13044058" cy="3591842"/>
          </a:xfrm>
          <a:custGeom>
            <a:avLst/>
            <a:gdLst/>
            <a:ahLst/>
            <a:cxnLst/>
            <a:rect r="r" b="b" t="t" l="l"/>
            <a:pathLst>
              <a:path h="3591842" w="13044058">
                <a:moveTo>
                  <a:pt x="0" y="0"/>
                </a:moveTo>
                <a:lnTo>
                  <a:pt x="13044058" y="0"/>
                </a:lnTo>
                <a:lnTo>
                  <a:pt x="13044058" y="3591842"/>
                </a:lnTo>
                <a:lnTo>
                  <a:pt x="0" y="359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74529"/>
            <a:ext cx="16230600" cy="86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4"/>
              </a:lnSpc>
            </a:pPr>
            <a:r>
              <a:rPr lang="en-US" sz="6710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Machine </a:t>
            </a:r>
            <a:r>
              <a:rPr lang="en-US" sz="6710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Learning 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315655"/>
            <a:ext cx="17425604" cy="384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8950" indent="-474475" lvl="1">
              <a:lnSpc>
                <a:spcPts val="6153"/>
              </a:lnSpc>
              <a:buFont typeface="Arial"/>
              <a:buChar char="•"/>
            </a:pP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L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ogistic Regression</a:t>
            </a:r>
          </a:p>
          <a:p>
            <a:pPr algn="l" marL="948950" indent="-474475" lvl="1">
              <a:lnSpc>
                <a:spcPts val="6153"/>
              </a:lnSpc>
              <a:buFont typeface="Arial"/>
              <a:buChar char="•"/>
            </a:pP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Random Forest</a:t>
            </a:r>
          </a:p>
          <a:p>
            <a:pPr algn="l" marL="948950" indent="-474475" lvl="1">
              <a:lnSpc>
                <a:spcPts val="6153"/>
              </a:lnSpc>
              <a:buFont typeface="Arial"/>
              <a:buChar char="•"/>
            </a:pP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Support Vec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to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Mach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ine</a:t>
            </a:r>
          </a:p>
          <a:p>
            <a:pPr algn="l" marL="948950" indent="-474475" lvl="1">
              <a:lnSpc>
                <a:spcPts val="6153"/>
              </a:lnSpc>
              <a:buFont typeface="Arial"/>
              <a:buChar char="•"/>
            </a:pP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Mod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e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l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c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o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mp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a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ed 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usi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n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g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mult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i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pl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e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m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et</a:t>
            </a:r>
            <a:r>
              <a:rPr lang="en-US" sz="4395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ri</a:t>
            </a:r>
            <a:r>
              <a:rPr lang="en-US" sz="4395" u="none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cs</a:t>
            </a:r>
          </a:p>
          <a:p>
            <a:pPr algn="l">
              <a:lnSpc>
                <a:spcPts val="615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11136" y="2769567"/>
            <a:ext cx="9282282" cy="7002743"/>
          </a:xfrm>
          <a:custGeom>
            <a:avLst/>
            <a:gdLst/>
            <a:ahLst/>
            <a:cxnLst/>
            <a:rect r="r" b="b" t="t" l="l"/>
            <a:pathLst>
              <a:path h="7002743" w="9282282">
                <a:moveTo>
                  <a:pt x="0" y="0"/>
                </a:moveTo>
                <a:lnTo>
                  <a:pt x="9282281" y="0"/>
                </a:lnTo>
                <a:lnTo>
                  <a:pt x="9282281" y="7002743"/>
                </a:lnTo>
                <a:lnTo>
                  <a:pt x="0" y="7002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7447" y="1156410"/>
            <a:ext cx="8616553" cy="1077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Best Model Evaluation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440704" y="3640620"/>
            <a:ext cx="9251840" cy="561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51070" indent="-575535" lvl="1">
              <a:lnSpc>
                <a:spcPts val="7464"/>
              </a:lnSpc>
              <a:buFont typeface="Arial"/>
              <a:buChar char="•"/>
            </a:pP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Random Forest achieved best performance</a:t>
            </a:r>
          </a:p>
          <a:p>
            <a:pPr algn="l" marL="1151070" indent="-575535" lvl="1">
              <a:lnSpc>
                <a:spcPts val="7464"/>
              </a:lnSpc>
              <a:buFont typeface="Arial"/>
              <a:buChar char="•"/>
            </a:pP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High classification accuracy</a:t>
            </a:r>
          </a:p>
          <a:p>
            <a:pPr algn="l" marL="1151070" indent="-575535" lvl="1">
              <a:lnSpc>
                <a:spcPts val="7464"/>
              </a:lnSpc>
              <a:buFont typeface="Arial"/>
              <a:buChar char="•"/>
            </a:pP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Excellent class prediction capability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97859" y="4607918"/>
            <a:ext cx="10599496" cy="4721310"/>
          </a:xfrm>
          <a:custGeom>
            <a:avLst/>
            <a:gdLst/>
            <a:ahLst/>
            <a:cxnLst/>
            <a:rect r="r" b="b" t="t" l="l"/>
            <a:pathLst>
              <a:path h="4721310" w="10599496">
                <a:moveTo>
                  <a:pt x="0" y="0"/>
                </a:moveTo>
                <a:lnTo>
                  <a:pt x="10599497" y="0"/>
                </a:lnTo>
                <a:lnTo>
                  <a:pt x="10599497" y="4721309"/>
                </a:lnTo>
                <a:lnTo>
                  <a:pt x="0" y="4721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3591" y="1156410"/>
            <a:ext cx="8164264" cy="1077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  <a:spcBef>
                <a:spcPct val="0"/>
              </a:spcBef>
            </a:pPr>
            <a:r>
              <a:rPr lang="en-US" b="true" sz="6314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</a:t>
            </a:r>
            <a:r>
              <a:rPr lang="en-US" b="true" sz="6314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lassification Report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440704" y="3640620"/>
            <a:ext cx="9251840" cy="656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51070" indent="-575535" lvl="1">
              <a:lnSpc>
                <a:spcPts val="7464"/>
              </a:lnSpc>
              <a:buFont typeface="Arial"/>
              <a:buChar char="•"/>
            </a:pP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Precision, </a:t>
            </a: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Recall, and F1-score evaluated</a:t>
            </a:r>
          </a:p>
          <a:p>
            <a:pPr algn="l" marL="1151070" indent="-575535" lvl="1">
              <a:lnSpc>
                <a:spcPts val="7464"/>
              </a:lnSpc>
              <a:buFont typeface="Arial"/>
              <a:buChar char="•"/>
            </a:pP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Strong performance across all classes</a:t>
            </a:r>
          </a:p>
          <a:p>
            <a:pPr algn="l" marL="1151070" indent="-575535" lvl="1">
              <a:lnSpc>
                <a:spcPts val="7464"/>
              </a:lnSpc>
              <a:buFont typeface="Arial"/>
              <a:buChar char="•"/>
            </a:pP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Balanced model behavior</a:t>
            </a:r>
          </a:p>
          <a:p>
            <a:pPr algn="l">
              <a:lnSpc>
                <a:spcPts val="7464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3484" y="3633667"/>
            <a:ext cx="16071079" cy="2535576"/>
          </a:xfrm>
          <a:custGeom>
            <a:avLst/>
            <a:gdLst/>
            <a:ahLst/>
            <a:cxnLst/>
            <a:rect r="r" b="b" t="t" l="l"/>
            <a:pathLst>
              <a:path h="2535576" w="16071079">
                <a:moveTo>
                  <a:pt x="0" y="0"/>
                </a:moveTo>
                <a:lnTo>
                  <a:pt x="16071079" y="0"/>
                </a:lnTo>
                <a:lnTo>
                  <a:pt x="16071079" y="2535576"/>
                </a:lnTo>
                <a:lnTo>
                  <a:pt x="0" y="2535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1740" y="885825"/>
            <a:ext cx="11914568" cy="135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  <a:spcBef>
                <a:spcPct val="0"/>
              </a:spcBef>
            </a:pPr>
            <a:r>
              <a:rPr lang="en-US" b="true" sz="8034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Hyperp</a:t>
            </a:r>
            <a:r>
              <a:rPr lang="en-US" b="true" sz="8034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arameter Tuning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7047618"/>
            <a:ext cx="16071079" cy="373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51070" indent="-575535" lvl="1">
              <a:lnSpc>
                <a:spcPts val="7464"/>
              </a:lnSpc>
              <a:buFont typeface="Arial"/>
              <a:buChar char="•"/>
            </a:pP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GridSearchCV used for optimization</a:t>
            </a:r>
          </a:p>
          <a:p>
            <a:pPr algn="l" marL="1151070" indent="-575535" lvl="1">
              <a:lnSpc>
                <a:spcPts val="7464"/>
              </a:lnSpc>
              <a:buFont typeface="Arial"/>
              <a:buChar char="•"/>
            </a:pP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Tun</a:t>
            </a: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ed Random Forest parameters</a:t>
            </a:r>
          </a:p>
          <a:p>
            <a:pPr algn="l" marL="1151070" indent="-575535" lvl="1">
              <a:lnSpc>
                <a:spcPts val="7464"/>
              </a:lnSpc>
              <a:buFont typeface="Arial"/>
              <a:buChar char="•"/>
            </a:pPr>
            <a:r>
              <a:rPr lang="en-US" sz="533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Improved cross-validation performance</a:t>
            </a:r>
          </a:p>
          <a:p>
            <a:pPr algn="l">
              <a:lnSpc>
                <a:spcPts val="7464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213059"/>
            <a:ext cx="10412295" cy="8073941"/>
          </a:xfrm>
          <a:custGeom>
            <a:avLst/>
            <a:gdLst/>
            <a:ahLst/>
            <a:cxnLst/>
            <a:rect r="r" b="b" t="t" l="l"/>
            <a:pathLst>
              <a:path h="8073941" w="10412295">
                <a:moveTo>
                  <a:pt x="0" y="0"/>
                </a:moveTo>
                <a:lnTo>
                  <a:pt x="10412295" y="0"/>
                </a:lnTo>
                <a:lnTo>
                  <a:pt x="10412295" y="8073941"/>
                </a:lnTo>
                <a:lnTo>
                  <a:pt x="0" y="8073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789" y="885825"/>
            <a:ext cx="10326335" cy="126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24"/>
              </a:lnSpc>
              <a:spcBef>
                <a:spcPct val="0"/>
              </a:spcBef>
            </a:pPr>
            <a:r>
              <a:rPr lang="en-US" b="true" sz="7446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Stre</a:t>
            </a:r>
            <a:r>
              <a:rPr lang="en-US" b="true" sz="7446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amlit Deployment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407009"/>
            <a:ext cx="8956755" cy="646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23844" indent="-361922" lvl="1">
              <a:lnSpc>
                <a:spcPts val="4693"/>
              </a:lnSpc>
              <a:buFont typeface="Arial"/>
              <a:buChar char="•"/>
            </a:pPr>
            <a:r>
              <a:rPr lang="en-US" sz="3352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The final model was deployed using Streamlit.</a:t>
            </a:r>
          </a:p>
          <a:p>
            <a:pPr algn="ctr" marL="723844" indent="-361922" lvl="1">
              <a:lnSpc>
                <a:spcPts val="4693"/>
              </a:lnSpc>
              <a:buFont typeface="Arial"/>
              <a:buChar char="•"/>
            </a:pPr>
            <a:r>
              <a:rPr lang="en-US" sz="3352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The user uploads an Excel/CSV sheet containing gene expression values.</a:t>
            </a:r>
          </a:p>
          <a:p>
            <a:pPr algn="ctr" marL="723844" indent="-361922" lvl="1">
              <a:lnSpc>
                <a:spcPts val="4693"/>
              </a:lnSpc>
              <a:buFont typeface="Arial"/>
              <a:buChar char="•"/>
            </a:pPr>
            <a:r>
              <a:rPr lang="en-US" sz="3352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The app preprocesses the uploaded gene data using the saved scaler and selected features.</a:t>
            </a:r>
          </a:p>
          <a:p>
            <a:pPr algn="ctr" marL="723844" indent="-361922" lvl="1">
              <a:lnSpc>
                <a:spcPts val="4693"/>
              </a:lnSpc>
              <a:buFont typeface="Arial"/>
              <a:buChar char="•"/>
            </a:pPr>
            <a:r>
              <a:rPr lang="en-US" sz="3352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The trained model predicts the cancer class automatically.</a:t>
            </a:r>
          </a:p>
          <a:p>
            <a:pPr algn="ctr" marL="723844" indent="-361922" lvl="1">
              <a:lnSpc>
                <a:spcPts val="4693"/>
              </a:lnSpc>
              <a:buFont typeface="Arial"/>
              <a:buChar char="•"/>
            </a:pPr>
            <a:r>
              <a:rPr lang="en-US" sz="3352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The prediction result is displayed directly on the web app.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8049" y="0"/>
            <a:ext cx="18784099" cy="2501410"/>
            <a:chOff x="0" y="0"/>
            <a:chExt cx="6644749" cy="8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44749" cy="884857"/>
            </a:xfrm>
            <a:custGeom>
              <a:avLst/>
              <a:gdLst/>
              <a:ahLst/>
              <a:cxnLst/>
              <a:rect r="r" b="b" t="t" l="l"/>
              <a:pathLst>
                <a:path h="884857" w="6644749">
                  <a:moveTo>
                    <a:pt x="4534" y="0"/>
                  </a:moveTo>
                  <a:lnTo>
                    <a:pt x="6640216" y="0"/>
                  </a:lnTo>
                  <a:cubicBezTo>
                    <a:pt x="6642719" y="0"/>
                    <a:pt x="6644749" y="2030"/>
                    <a:pt x="6644749" y="4534"/>
                  </a:cubicBezTo>
                  <a:lnTo>
                    <a:pt x="6644749" y="880324"/>
                  </a:lnTo>
                  <a:cubicBezTo>
                    <a:pt x="6644749" y="882827"/>
                    <a:pt x="6642719" y="884857"/>
                    <a:pt x="6640216" y="884857"/>
                  </a:cubicBezTo>
                  <a:lnTo>
                    <a:pt x="4534" y="884857"/>
                  </a:lnTo>
                  <a:cubicBezTo>
                    <a:pt x="2030" y="884857"/>
                    <a:pt x="0" y="882827"/>
                    <a:pt x="0" y="880324"/>
                  </a:cubicBezTo>
                  <a:lnTo>
                    <a:pt x="0" y="4534"/>
                  </a:lnTo>
                  <a:cubicBezTo>
                    <a:pt x="0" y="2030"/>
                    <a:pt x="2030" y="0"/>
                    <a:pt x="4534" y="0"/>
                  </a:cubicBezTo>
                  <a:close/>
                </a:path>
              </a:pathLst>
            </a:custGeom>
            <a:solidFill>
              <a:srgbClr val="9B4D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644749" cy="894382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1118" y="2987613"/>
            <a:ext cx="13577604" cy="5801212"/>
            <a:chOff x="0" y="0"/>
            <a:chExt cx="4527702" cy="19345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27702" cy="1934521"/>
            </a:xfrm>
            <a:custGeom>
              <a:avLst/>
              <a:gdLst/>
              <a:ahLst/>
              <a:cxnLst/>
              <a:rect r="r" b="b" t="t" l="l"/>
              <a:pathLst>
                <a:path h="1934521" w="4527702">
                  <a:moveTo>
                    <a:pt x="6272" y="0"/>
                  </a:moveTo>
                  <a:lnTo>
                    <a:pt x="4521429" y="0"/>
                  </a:lnTo>
                  <a:cubicBezTo>
                    <a:pt x="4524894" y="0"/>
                    <a:pt x="4527702" y="2808"/>
                    <a:pt x="4527702" y="6272"/>
                  </a:cubicBezTo>
                  <a:lnTo>
                    <a:pt x="4527702" y="1928249"/>
                  </a:lnTo>
                  <a:cubicBezTo>
                    <a:pt x="4527702" y="1929912"/>
                    <a:pt x="4527041" y="1931507"/>
                    <a:pt x="4525864" y="1932684"/>
                  </a:cubicBezTo>
                  <a:cubicBezTo>
                    <a:pt x="4524688" y="1933860"/>
                    <a:pt x="4523093" y="1934521"/>
                    <a:pt x="4521429" y="1934521"/>
                  </a:cubicBezTo>
                  <a:lnTo>
                    <a:pt x="6272" y="1934521"/>
                  </a:lnTo>
                  <a:cubicBezTo>
                    <a:pt x="2808" y="1934521"/>
                    <a:pt x="0" y="1931713"/>
                    <a:pt x="0" y="1928249"/>
                  </a:cubicBezTo>
                  <a:lnTo>
                    <a:pt x="0" y="6272"/>
                  </a:lnTo>
                  <a:cubicBezTo>
                    <a:pt x="0" y="2808"/>
                    <a:pt x="28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527702" cy="1944046"/>
            </a:xfrm>
            <a:prstGeom prst="rect">
              <a:avLst/>
            </a:prstGeom>
          </p:spPr>
          <p:txBody>
            <a:bodyPr anchor="ctr" rtlCol="false" tIns="28236" lIns="28236" bIns="28236" rIns="28236"/>
            <a:lstStyle/>
            <a:p>
              <a:pPr algn="ctr">
                <a:lnSpc>
                  <a:spcPts val="108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859839" y="0"/>
            <a:ext cx="2581193" cy="2501410"/>
          </a:xfrm>
          <a:custGeom>
            <a:avLst/>
            <a:gdLst/>
            <a:ahLst/>
            <a:cxnLst/>
            <a:rect r="r" b="b" t="t" l="l"/>
            <a:pathLst>
              <a:path h="2501410" w="2581193">
                <a:moveTo>
                  <a:pt x="0" y="0"/>
                </a:moveTo>
                <a:lnTo>
                  <a:pt x="2581192" y="0"/>
                </a:lnTo>
                <a:lnTo>
                  <a:pt x="2581192" y="2501410"/>
                </a:lnTo>
                <a:lnTo>
                  <a:pt x="0" y="2501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536563" y="433061"/>
            <a:ext cx="20252966" cy="145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4"/>
              </a:lnSpc>
              <a:spcBef>
                <a:spcPct val="0"/>
              </a:spcBef>
            </a:pPr>
            <a:r>
              <a:rPr lang="en-US" sz="8360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Conc</a:t>
            </a:r>
            <a:r>
              <a:rPr lang="en-US" sz="8360">
                <a:solidFill>
                  <a:srgbClr val="FFFFFF"/>
                </a:solidFill>
                <a:latin typeface="Dingos Stamp"/>
                <a:ea typeface="Dingos Stamp"/>
                <a:cs typeface="Dingos Stamp"/>
                <a:sym typeface="Dingos Stamp"/>
              </a:rPr>
              <a:t>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4248" y="3455063"/>
            <a:ext cx="13371342" cy="478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5097" indent="-487549" lvl="1">
              <a:lnSpc>
                <a:spcPts val="6323"/>
              </a:lnSpc>
              <a:spcBef>
                <a:spcPct val="0"/>
              </a:spcBef>
              <a:buFont typeface="Arial"/>
              <a:buChar char="•"/>
            </a:pPr>
            <a:r>
              <a:rPr lang="en-US" sz="451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Successfully</a:t>
            </a:r>
            <a:r>
              <a:rPr lang="en-US" sz="451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predicted cancer classes</a:t>
            </a:r>
          </a:p>
          <a:p>
            <a:pPr algn="l" marL="975097" indent="-487549" lvl="1">
              <a:lnSpc>
                <a:spcPts val="6323"/>
              </a:lnSpc>
              <a:spcBef>
                <a:spcPct val="0"/>
              </a:spcBef>
              <a:buFont typeface="Arial"/>
              <a:buChar char="•"/>
            </a:pPr>
            <a:r>
              <a:rPr lang="en-US" sz="451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Feature selection improved efficiency</a:t>
            </a:r>
          </a:p>
          <a:p>
            <a:pPr algn="l" marL="975097" indent="-487549" lvl="1">
              <a:lnSpc>
                <a:spcPts val="6323"/>
              </a:lnSpc>
              <a:spcBef>
                <a:spcPct val="0"/>
              </a:spcBef>
              <a:buFont typeface="Arial"/>
              <a:buChar char="•"/>
            </a:pPr>
            <a:r>
              <a:rPr lang="en-US" sz="451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Random Forest achieved best results</a:t>
            </a:r>
          </a:p>
          <a:p>
            <a:pPr algn="l" marL="975097" indent="-487549" lvl="1">
              <a:lnSpc>
                <a:spcPts val="6323"/>
              </a:lnSpc>
              <a:spcBef>
                <a:spcPct val="0"/>
              </a:spcBef>
              <a:buFont typeface="Arial"/>
              <a:buChar char="•"/>
            </a:pPr>
            <a:r>
              <a:rPr lang="en-US" sz="451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Streamlit deployment completed successfully</a:t>
            </a:r>
          </a:p>
          <a:p>
            <a:pPr algn="l">
              <a:lnSpc>
                <a:spcPts val="632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DAHK8Uoqs1E</dc:identifier>
  <dcterms:modified xsi:type="dcterms:W3CDTF">2011-08-01T06:04:30Z</dcterms:modified>
  <cp:revision>1</cp:revision>
  <dc:title>Cancer Type Prediction Using Gene Expression Data</dc:title>
</cp:coreProperties>
</file>